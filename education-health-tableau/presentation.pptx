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92" r:id="rId6"/>
    <p:sldId id="271" r:id="rId7"/>
    <p:sldId id="272" r:id="rId8"/>
    <p:sldId id="273" r:id="rId9"/>
    <p:sldId id="274" r:id="rId10"/>
    <p:sldId id="275" r:id="rId11"/>
    <p:sldId id="293" r:id="rId12"/>
    <p:sldId id="29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09D1BF-FC7F-4716-14CC-A34E26AB396F}" name="Williner, Sofia" initials="WS" userId="S::sw130@fordham.edu::5ca0d643-e1c5-4af0-a17e-7887f0124d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22958-4B00-4FAF-A1EE-0F08C23F5CFA}" v="2" dt="2026-05-05T00:14:30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>
        <p:scale>
          <a:sx n="98" d="100"/>
          <a:sy n="98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Parks" userId="831750913a0e3f96" providerId="LiveId" clId="{EE377E6C-25F7-4F54-8C48-26AE03D8677A}"/>
    <pc:docChg chg="custSel modSld">
      <pc:chgData name="Jon Parks" userId="831750913a0e3f96" providerId="LiveId" clId="{EE377E6C-25F7-4F54-8C48-26AE03D8677A}" dt="2026-05-05T00:14:54.464" v="466" actId="20577"/>
      <pc:docMkLst>
        <pc:docMk/>
      </pc:docMkLst>
      <pc:sldChg chg="modSp mod">
        <pc:chgData name="Jon Parks" userId="831750913a0e3f96" providerId="LiveId" clId="{EE377E6C-25F7-4F54-8C48-26AE03D8677A}" dt="2026-05-05T00:03:07.258" v="259" actId="20577"/>
        <pc:sldMkLst>
          <pc:docMk/>
          <pc:sldMk cId="1566131508" sldId="256"/>
        </pc:sldMkLst>
        <pc:spChg chg="mod">
          <ac:chgData name="Jon Parks" userId="831750913a0e3f96" providerId="LiveId" clId="{EE377E6C-25F7-4F54-8C48-26AE03D8677A}" dt="2026-05-05T00:03:07.258" v="259" actId="20577"/>
          <ac:spMkLst>
            <pc:docMk/>
            <pc:sldMk cId="1566131508" sldId="256"/>
            <ac:spMk id="5" creationId="{27AB1574-6A2F-F697-A389-E79808FB1360}"/>
          </ac:spMkLst>
        </pc:spChg>
      </pc:sldChg>
      <pc:sldChg chg="modSp mod">
        <pc:chgData name="Jon Parks" userId="831750913a0e3f96" providerId="LiveId" clId="{EE377E6C-25F7-4F54-8C48-26AE03D8677A}" dt="2026-05-04T23:53:16.517" v="81" actId="20577"/>
        <pc:sldMkLst>
          <pc:docMk/>
          <pc:sldMk cId="108186852" sldId="258"/>
        </pc:sldMkLst>
        <pc:spChg chg="mod">
          <ac:chgData name="Jon Parks" userId="831750913a0e3f96" providerId="LiveId" clId="{EE377E6C-25F7-4F54-8C48-26AE03D8677A}" dt="2026-05-04T23:52:51.517" v="72" actId="20577"/>
          <ac:spMkLst>
            <pc:docMk/>
            <pc:sldMk cId="108186852" sldId="258"/>
            <ac:spMk id="7" creationId="{2BD5567E-0882-30A3-1AB7-F4CF1A0C84C4}"/>
          </ac:spMkLst>
        </pc:spChg>
        <pc:spChg chg="mod">
          <ac:chgData name="Jon Parks" userId="831750913a0e3f96" providerId="LiveId" clId="{EE377E6C-25F7-4F54-8C48-26AE03D8677A}" dt="2026-05-04T23:53:16.517" v="81" actId="20577"/>
          <ac:spMkLst>
            <pc:docMk/>
            <pc:sldMk cId="108186852" sldId="258"/>
            <ac:spMk id="10" creationId="{7E38EED2-6DFB-BF42-43BC-536A38510309}"/>
          </ac:spMkLst>
        </pc:spChg>
      </pc:sldChg>
      <pc:sldChg chg="modSp mod">
        <pc:chgData name="Jon Parks" userId="831750913a0e3f96" providerId="LiveId" clId="{EE377E6C-25F7-4F54-8C48-26AE03D8677A}" dt="2026-05-05T00:07:33.531" v="349" actId="20577"/>
        <pc:sldMkLst>
          <pc:docMk/>
          <pc:sldMk cId="512716076" sldId="259"/>
        </pc:sldMkLst>
        <pc:spChg chg="mod">
          <ac:chgData name="Jon Parks" userId="831750913a0e3f96" providerId="LiveId" clId="{EE377E6C-25F7-4F54-8C48-26AE03D8677A}" dt="2026-05-05T00:07:33.531" v="349" actId="20577"/>
          <ac:spMkLst>
            <pc:docMk/>
            <pc:sldMk cId="512716076" sldId="259"/>
            <ac:spMk id="6" creationId="{2262CB2F-E05D-F134-1AC9-EC6BF9C090FD}"/>
          </ac:spMkLst>
        </pc:spChg>
      </pc:sldChg>
      <pc:sldChg chg="modSp mod">
        <pc:chgData name="Jon Parks" userId="831750913a0e3f96" providerId="LiveId" clId="{EE377E6C-25F7-4F54-8C48-26AE03D8677A}" dt="2026-05-05T00:11:18.184" v="441" actId="20577"/>
        <pc:sldMkLst>
          <pc:docMk/>
          <pc:sldMk cId="2158673487" sldId="268"/>
        </pc:sldMkLst>
        <pc:spChg chg="mod">
          <ac:chgData name="Jon Parks" userId="831750913a0e3f96" providerId="LiveId" clId="{EE377E6C-25F7-4F54-8C48-26AE03D8677A}" dt="2026-05-05T00:11:18.184" v="441" actId="20577"/>
          <ac:spMkLst>
            <pc:docMk/>
            <pc:sldMk cId="2158673487" sldId="268"/>
            <ac:spMk id="5" creationId="{19F78C8C-0E56-2049-11CF-37EC9B4A4E23}"/>
          </ac:spMkLst>
        </pc:spChg>
      </pc:sldChg>
      <pc:sldChg chg="modSp mod">
        <pc:chgData name="Jon Parks" userId="831750913a0e3f96" providerId="LiveId" clId="{EE377E6C-25F7-4F54-8C48-26AE03D8677A}" dt="2026-05-05T00:12:53.459" v="464" actId="20577"/>
        <pc:sldMkLst>
          <pc:docMk/>
          <pc:sldMk cId="3071449276" sldId="269"/>
        </pc:sldMkLst>
        <pc:spChg chg="mod">
          <ac:chgData name="Jon Parks" userId="831750913a0e3f96" providerId="LiveId" clId="{EE377E6C-25F7-4F54-8C48-26AE03D8677A}" dt="2026-05-05T00:02:24.657" v="217" actId="20577"/>
          <ac:spMkLst>
            <pc:docMk/>
            <pc:sldMk cId="3071449276" sldId="269"/>
            <ac:spMk id="2" creationId="{C4861EEC-3DD6-0CAC-9BB1-1C43416341DC}"/>
          </ac:spMkLst>
        </pc:spChg>
        <pc:spChg chg="mod">
          <ac:chgData name="Jon Parks" userId="831750913a0e3f96" providerId="LiveId" clId="{EE377E6C-25F7-4F54-8C48-26AE03D8677A}" dt="2026-05-05T00:12:53.459" v="464" actId="20577"/>
          <ac:spMkLst>
            <pc:docMk/>
            <pc:sldMk cId="3071449276" sldId="269"/>
            <ac:spMk id="5" creationId="{7083221E-1D12-E83C-2C02-D1A00E5705C2}"/>
          </ac:spMkLst>
        </pc:spChg>
      </pc:sldChg>
      <pc:sldChg chg="modSp mod">
        <pc:chgData name="Jon Parks" userId="831750913a0e3f96" providerId="LiveId" clId="{EE377E6C-25F7-4F54-8C48-26AE03D8677A}" dt="2026-05-04T23:54:07.519" v="111" actId="2084"/>
        <pc:sldMkLst>
          <pc:docMk/>
          <pc:sldMk cId="72502570" sldId="271"/>
        </pc:sldMkLst>
        <pc:graphicFrameChg chg="modGraphic">
          <ac:chgData name="Jon Parks" userId="831750913a0e3f96" providerId="LiveId" clId="{EE377E6C-25F7-4F54-8C48-26AE03D8677A}" dt="2026-05-04T23:54:07.519" v="111" actId="2084"/>
          <ac:graphicFrameMkLst>
            <pc:docMk/>
            <pc:sldMk cId="72502570" sldId="271"/>
            <ac:graphicFrameMk id="4" creationId="{C2C37C6D-7B00-29AB-E4D3-C5A5724DF072}"/>
          </ac:graphicFrameMkLst>
        </pc:graphicFrameChg>
      </pc:sldChg>
      <pc:sldChg chg="modSp mod">
        <pc:chgData name="Jon Parks" userId="831750913a0e3f96" providerId="LiveId" clId="{EE377E6C-25F7-4F54-8C48-26AE03D8677A}" dt="2026-05-04T23:54:47.931" v="117" actId="20577"/>
        <pc:sldMkLst>
          <pc:docMk/>
          <pc:sldMk cId="2247207139" sldId="272"/>
        </pc:sldMkLst>
        <pc:spChg chg="mod">
          <ac:chgData name="Jon Parks" userId="831750913a0e3f96" providerId="LiveId" clId="{EE377E6C-25F7-4F54-8C48-26AE03D8677A}" dt="2026-05-04T23:54:47.931" v="117" actId="20577"/>
          <ac:spMkLst>
            <pc:docMk/>
            <pc:sldMk cId="2247207139" sldId="272"/>
            <ac:spMk id="3" creationId="{A7BF5071-6519-1432-CA84-1C45DE273F93}"/>
          </ac:spMkLst>
        </pc:spChg>
      </pc:sldChg>
      <pc:sldChg chg="modSp mod">
        <pc:chgData name="Jon Parks" userId="831750913a0e3f96" providerId="LiveId" clId="{EE377E6C-25F7-4F54-8C48-26AE03D8677A}" dt="2026-05-05T00:14:30.281" v="465"/>
        <pc:sldMkLst>
          <pc:docMk/>
          <pc:sldMk cId="945755175" sldId="273"/>
        </pc:sldMkLst>
        <pc:graphicFrameChg chg="mod modGraphic">
          <ac:chgData name="Jon Parks" userId="831750913a0e3f96" providerId="LiveId" clId="{EE377E6C-25F7-4F54-8C48-26AE03D8677A}" dt="2026-05-05T00:14:30.281" v="465"/>
          <ac:graphicFrameMkLst>
            <pc:docMk/>
            <pc:sldMk cId="945755175" sldId="273"/>
            <ac:graphicFrameMk id="4" creationId="{ABDC9208-9C21-0602-019F-FD411D82864A}"/>
          </ac:graphicFrameMkLst>
        </pc:graphicFrameChg>
      </pc:sldChg>
      <pc:sldChg chg="modSp mod">
        <pc:chgData name="Jon Parks" userId="831750913a0e3f96" providerId="LiveId" clId="{EE377E6C-25F7-4F54-8C48-26AE03D8677A}" dt="2026-05-04T23:55:03.141" v="122" actId="20577"/>
        <pc:sldMkLst>
          <pc:docMk/>
          <pc:sldMk cId="3443790151" sldId="274"/>
        </pc:sldMkLst>
        <pc:spChg chg="mod">
          <ac:chgData name="Jon Parks" userId="831750913a0e3f96" providerId="LiveId" clId="{EE377E6C-25F7-4F54-8C48-26AE03D8677A}" dt="2026-05-04T23:55:03.141" v="122" actId="20577"/>
          <ac:spMkLst>
            <pc:docMk/>
            <pc:sldMk cId="3443790151" sldId="274"/>
            <ac:spMk id="6" creationId="{1455D84B-ED25-62C6-16BC-8AEA23D8FBD0}"/>
          </ac:spMkLst>
        </pc:spChg>
        <pc:graphicFrameChg chg="modGraphic">
          <ac:chgData name="Jon Parks" userId="831750913a0e3f96" providerId="LiveId" clId="{EE377E6C-25F7-4F54-8C48-26AE03D8677A}" dt="2026-05-04T23:54:22.961" v="113" actId="2084"/>
          <ac:graphicFrameMkLst>
            <pc:docMk/>
            <pc:sldMk cId="3443790151" sldId="274"/>
            <ac:graphicFrameMk id="3" creationId="{AA862CE4-EEB8-3AAE-E5F9-4F2A25384D09}"/>
          </ac:graphicFrameMkLst>
        </pc:graphicFrameChg>
      </pc:sldChg>
      <pc:sldChg chg="modSp mod">
        <pc:chgData name="Jon Parks" userId="831750913a0e3f96" providerId="LiveId" clId="{EE377E6C-25F7-4F54-8C48-26AE03D8677A}" dt="2026-05-05T00:09:50.371" v="397" actId="20577"/>
        <pc:sldMkLst>
          <pc:docMk/>
          <pc:sldMk cId="2241039091" sldId="275"/>
        </pc:sldMkLst>
        <pc:spChg chg="mod">
          <ac:chgData name="Jon Parks" userId="831750913a0e3f96" providerId="LiveId" clId="{EE377E6C-25F7-4F54-8C48-26AE03D8677A}" dt="2026-05-05T00:09:50.371" v="397" actId="20577"/>
          <ac:spMkLst>
            <pc:docMk/>
            <pc:sldMk cId="2241039091" sldId="275"/>
            <ac:spMk id="3" creationId="{9A9B5668-48B5-1E07-79D6-16C5C790113F}"/>
          </ac:spMkLst>
        </pc:spChg>
      </pc:sldChg>
      <pc:sldChg chg="modSp mod">
        <pc:chgData name="Jon Parks" userId="831750913a0e3f96" providerId="LiveId" clId="{EE377E6C-25F7-4F54-8C48-26AE03D8677A}" dt="2026-05-05T00:14:54.464" v="466" actId="20577"/>
        <pc:sldMkLst>
          <pc:docMk/>
          <pc:sldMk cId="3685102446" sldId="291"/>
        </pc:sldMkLst>
        <pc:spChg chg="mod">
          <ac:chgData name="Jon Parks" userId="831750913a0e3f96" providerId="LiveId" clId="{EE377E6C-25F7-4F54-8C48-26AE03D8677A}" dt="2026-05-05T00:14:54.464" v="466" actId="20577"/>
          <ac:spMkLst>
            <pc:docMk/>
            <pc:sldMk cId="3685102446" sldId="291"/>
            <ac:spMk id="3" creationId="{9A9B5668-48B5-1E07-79D6-16C5C790113F}"/>
          </ac:spMkLst>
        </pc:spChg>
      </pc:sldChg>
      <pc:sldChg chg="modSp mod modNotesTx">
        <pc:chgData name="Jon Parks" userId="831750913a0e3f96" providerId="LiveId" clId="{EE377E6C-25F7-4F54-8C48-26AE03D8677A}" dt="2026-05-05T00:08:35.150" v="367" actId="20577"/>
        <pc:sldMkLst>
          <pc:docMk/>
          <pc:sldMk cId="2177606878" sldId="292"/>
        </pc:sldMkLst>
        <pc:spChg chg="mod">
          <ac:chgData name="Jon Parks" userId="831750913a0e3f96" providerId="LiveId" clId="{EE377E6C-25F7-4F54-8C48-26AE03D8677A}" dt="2026-05-05T00:08:35.150" v="367" actId="20577"/>
          <ac:spMkLst>
            <pc:docMk/>
            <pc:sldMk cId="2177606878" sldId="292"/>
            <ac:spMk id="6" creationId="{0431912B-E31D-2153-163C-B0CF2195F6E4}"/>
          </ac:spMkLst>
        </pc:spChg>
      </pc:sldChg>
      <pc:sldChg chg="modSp mod">
        <pc:chgData name="Jon Parks" userId="831750913a0e3f96" providerId="LiveId" clId="{EE377E6C-25F7-4F54-8C48-26AE03D8677A}" dt="2026-05-05T00:02:36.349" v="223" actId="1076"/>
        <pc:sldMkLst>
          <pc:docMk/>
          <pc:sldMk cId="206539929" sldId="293"/>
        </pc:sldMkLst>
        <pc:spChg chg="mod">
          <ac:chgData name="Jon Parks" userId="831750913a0e3f96" providerId="LiveId" clId="{EE377E6C-25F7-4F54-8C48-26AE03D8677A}" dt="2026-05-05T00:02:36.349" v="223" actId="1076"/>
          <ac:spMkLst>
            <pc:docMk/>
            <pc:sldMk cId="206539929" sldId="293"/>
            <ac:spMk id="2" creationId="{AAF38C59-3FEF-43A5-FA82-6877C328E9C5}"/>
          </ac:spMkLst>
        </pc:spChg>
        <pc:spChg chg="mod">
          <ac:chgData name="Jon Parks" userId="831750913a0e3f96" providerId="LiveId" clId="{EE377E6C-25F7-4F54-8C48-26AE03D8677A}" dt="2026-05-05T00:00:00.128" v="201" actId="20577"/>
          <ac:spMkLst>
            <pc:docMk/>
            <pc:sldMk cId="206539929" sldId="293"/>
            <ac:spMk id="5" creationId="{C3D1C742-B1A2-1356-6966-8BF764E1BFF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80437E-9DDE-90C7-4E7F-7FF8B0C1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77D83-9768-E333-B1B6-7A007393EF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4/9/26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D89F7-7384-4C92-E886-F05965B120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6DA91-0603-6A8E-5F08-546C37B19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2CE3F-A586-174E-BB6D-30DAB272E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316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4/9/26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B160F-1C17-8E42-BD7D-674CD2C73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611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44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8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82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E17C-CA30-2333-3F48-2CAD8321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0B78E-CB30-69D0-7B56-17F859823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AA893-98CA-A31E-9713-0831CA297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C7BD-CAE8-4FC2-8588-4C1764BCD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27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6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160F-1C17-8E42-BD7D-674CD2C73B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F854-BC82-3AD8-8912-D9616972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0D826-A812-D6A9-8B98-B50D5874E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E075-8151-4AE4-77A0-9227F476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6244-2C27-46E8-A487-1ED2E86C15DE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46B6D-2EFE-2F5C-E201-54984141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7308-3F6F-1131-7387-3FAB36D7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0349" y="283617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D726C7F-E5A6-0D4B-8C8F-80552A591F42}" type="slidenum">
              <a:rPr lang="en-US" smtClean="0"/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30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0995-366B-C533-D41C-0E72E0F7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1F02-9481-71B7-3D18-C2B4B817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C2518-1BB1-626D-241F-591DFA58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B53-3DAE-4878-88AA-EB85498DEB82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D820A-993E-2DD4-BE9B-59DDE27A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9E3A-9F43-341B-9B99-B006803C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031" y="230188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D726C7F-E5A6-0D4B-8C8F-80552A591F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3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3DC2-B00F-53B3-6B75-1B14690DE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06F8D-D3E9-931E-338F-F752D1C0B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983A8-6134-C9E3-4FF2-AB176ED1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A7D9-E86E-48E8-AE4E-269134A1224A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1BBED-4C7E-12DC-6F29-84EFA920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EA3BB-3862-1D67-CC95-FDE16C02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4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62F1-B99F-4DC4-900F-F22DB0BC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B133-A7A1-5C33-B5D0-184CD08CB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C29-3F76-4963-C56B-DB89F21EF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40873-E904-773E-1E3F-DF13AFAC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EFED3-04D0-4985-868C-F3700866049D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F9CA-2280-4693-916F-C0CFC1BD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65042-22A4-F792-8B91-974525A5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7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4096-CC06-DEE9-4BAE-F6CA0227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42139-9140-6360-CC97-B528E0E6E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7B543-0F97-0803-D7C7-502865E59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F2497-2457-4C44-721C-4F26CB54C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FF0E7-412E-9499-0F20-4BA76D8E9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1C5C0-97C0-A287-1572-8806F608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F70A-0D31-4543-B4EE-64929030D880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3A4E0-D916-FE8C-F112-1D661BC7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84B77D-A41B-C158-046F-C63D10E2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8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978C-3702-EA1D-8E9C-863488AC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6D19E-BA63-EEEB-FE67-5BB017A1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6BE-FBB0-4D32-A80D-B6A6E957A973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5DD35-08CC-10CB-4332-A56B28AF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0EFE5-4750-40AC-DF46-F6FAB9F2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FBFDD-F347-4290-D62A-988E837F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8CA87-3813-43AF-98E0-AAEE0D951DFC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119E8-716F-5EED-E037-689F9A88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21B9-ECF3-4C5C-1DF2-BEFA72D8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84DB-0429-A31A-9930-0919188F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0FE5-A68A-C1E4-3E44-193B489A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D7340-88FB-D1DE-1BC7-B797D6987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A72F7-23B4-4B64-376D-20270F20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C404-742B-435C-8D1A-7A3F1227F9DA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3C4E9-7F43-3FB9-9A50-C4E7217F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3F420-5A61-307E-11E5-32CA0DE1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5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CA59-5CDD-C146-F688-FA4C16B7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EB854-8DD5-09F8-F0BA-5B7A823B1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1E5C8-E81D-C0A6-6320-B9FA24783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B948-C4CE-054C-44CD-5969D7F1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288-920E-485A-B97D-588D869A0D70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0F8C2-14C4-7A49-F955-53C05239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8D3A3-737C-BADB-B225-452FDDAC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81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1FCF-0820-ED7C-DCF8-D3634900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094F1-D9E4-6A94-303F-B29F6CDAA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60926-3F63-632B-CBD5-2AA32F31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0A24-E8EF-4865-AF1E-6D5439D7434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7404D-AD93-0F7F-85C0-EC21D799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E722-7360-4BB5-B298-790E65E2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9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872FB-5064-1AC9-CE37-14E792E2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BD684-985B-6806-F066-B7260888F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4AD8-22A1-B3EB-1D89-0E8E74A6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1B74-2CC8-4620-9EBB-B1829DC88A9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2267F-CA3A-8644-09D4-A58F6FFB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36E01-BEAE-ECA2-BAE0-B0C06439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1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DACF9-3D20-1B89-1F89-54969471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E07A9-8258-8FDB-6F6F-D7261DB5B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0C6E-9DCA-9AE1-8153-81A1DB74A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4110A-2648-4E58-991F-2EBAFA27871F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132D-2E8B-46FE-B3E7-3327379A6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CA02-9BAB-169C-9954-300C14509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26C7F-E5A6-0D4B-8C8F-80552A59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6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bank.worldbank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3524-011-0034-3" TargetMode="External"/><Relationship Id="rId7" Type="http://schemas.openxmlformats.org/officeDocument/2006/relationships/hyperlink" Target="https://doi.org/10.1186/s13690-020-00402-5" TargetMode="External"/><Relationship Id="rId2" Type="http://schemas.openxmlformats.org/officeDocument/2006/relationships/hyperlink" Target="https://www.nber.org/papers/w1235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S2468-2667(20)30144-4" TargetMode="External"/><Relationship Id="rId5" Type="http://schemas.openxmlformats.org/officeDocument/2006/relationships/hyperlink" Target="https://doi.org/10.1186/s12889-019-7054-0" TargetMode="External"/><Relationship Id="rId4" Type="http://schemas.openxmlformats.org/officeDocument/2006/relationships/hyperlink" Target="https://doi.org/10.1186/s12889-024-20664-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31D3FD-2B97-8389-CBE3-004AF2666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87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Exploring the Association Between Education And Health Quality: A Country Level Study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7AB1574-6A2F-F697-A389-E79808FB1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981781"/>
            <a:ext cx="9753600" cy="3578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Times New Roman"/>
                <a:ea typeface="+mn-lt"/>
                <a:cs typeface="Times New Roman"/>
              </a:rPr>
              <a:t>Final Project Report</a:t>
            </a:r>
          </a:p>
          <a:p>
            <a:endParaRPr lang="en-US" sz="2800" dirty="0">
              <a:latin typeface="Times New Roman"/>
              <a:ea typeface="+mn-lt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Fordham University Gabelli School of Business</a:t>
            </a:r>
            <a:endParaRPr lang="en-US" dirty="0"/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Data Visualization (</a:t>
            </a:r>
            <a:r>
              <a:rPr lang="en-US" sz="2000" dirty="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Open Sans"/>
                <a:cs typeface="Times New Roman"/>
              </a:rPr>
              <a:t>BYGB-7975-002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) – Spring 2026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Prof. RP Raghupathi</a:t>
            </a:r>
            <a:endParaRPr lang="en-US" dirty="0"/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Team Frida Kahlo: Sukhmin Pandher, Jonathan Parks, Madison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Quattlander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&amp; Sofia Williner</a:t>
            </a:r>
            <a:endParaRPr lang="en-US" dirty="0">
              <a:latin typeface="Aptos" panose="02110004020202020204"/>
              <a:ea typeface="+mn-lt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4 May 2026</a:t>
            </a: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3765-D1C0-17E8-18E8-8DF32D09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138430"/>
            <a:ext cx="2743200" cy="365125"/>
          </a:xfrm>
        </p:spPr>
        <p:txBody>
          <a:bodyPr/>
          <a:lstStyle/>
          <a:p>
            <a:fld id="{9D726C7F-E5A6-0D4B-8C8F-80552A591F42}" type="slidenum">
              <a:rPr lang="en-US" dirty="0" smtClean="0">
                <a:solidFill>
                  <a:schemeClr val="tx1"/>
                </a:solidFill>
              </a:rPr>
              <a:t>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13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CB5A70-709E-AF5F-D2F3-7FB63EDEC868}"/>
              </a:ext>
            </a:extLst>
          </p:cNvPr>
          <p:cNvSpPr txBox="1">
            <a:spLocks/>
          </p:cNvSpPr>
          <p:nvPr/>
        </p:nvSpPr>
        <p:spPr>
          <a:xfrm>
            <a:off x="1524000" y="38380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CFDEF-F4C2-AD72-2B87-72CD4CC4E282}"/>
              </a:ext>
            </a:extLst>
          </p:cNvPr>
          <p:cNvSpPr txBox="1"/>
          <p:nvPr/>
        </p:nvSpPr>
        <p:spPr>
          <a:xfrm>
            <a:off x="597637" y="748934"/>
            <a:ext cx="109967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Association Between Education And Health Quality: A Country Level Study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ECF33-E845-1DD0-5EEE-DA10E708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88821-50C1-B001-EE62-B151F29CB9C4}"/>
              </a:ext>
            </a:extLst>
          </p:cNvPr>
          <p:cNvSpPr txBox="1"/>
          <p:nvPr/>
        </p:nvSpPr>
        <p:spPr>
          <a:xfrm>
            <a:off x="597637" y="2771409"/>
            <a:ext cx="10996724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This study examined the association between five education indicators and seven health outcomes across 112 countries from 2012 to 2019 using World Bank data. Five education-related independent variables measuring attainment, engagement, and access were analyzed against seven health-related dependent variables covering mortality, disease burden, preventive care, and lifestyle outcomes. Data were cleaned, min-max normalized, and analyzed using Tableau and Python. Findings revealed that higher educational attainment was generally associated with improved health outcomes. Nevertheless, while education emerged as a clear driver of population health outcomes, associations were context-dependent, varying significantly by region and income level, with the strongest effects observed in low and middle-income countries. These findings suggest that education investment should be treated as a core public health strategy, with interventions tailored to regional and economic contexts.</a:t>
            </a:r>
          </a:p>
        </p:txBody>
      </p:sp>
    </p:spTree>
    <p:extLst>
      <p:ext uri="{BB962C8B-B14F-4D97-AF65-F5344CB8AC3E}">
        <p14:creationId xmlns:p14="http://schemas.microsoft.com/office/powerpoint/2010/main" val="109216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3EF1-ACA0-016D-F4C1-1F37ACBA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D5567E-0882-30A3-1AB7-F4CF1A0C84C4}"/>
              </a:ext>
            </a:extLst>
          </p:cNvPr>
          <p:cNvSpPr txBox="1"/>
          <p:nvPr/>
        </p:nvSpPr>
        <p:spPr>
          <a:xfrm>
            <a:off x="515957" y="416837"/>
            <a:ext cx="1099672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Introduction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8EED2-6DFB-BF42-43BC-536A38510309}"/>
              </a:ext>
            </a:extLst>
          </p:cNvPr>
          <p:cNvSpPr txBox="1"/>
          <p:nvPr/>
        </p:nvSpPr>
        <p:spPr>
          <a:xfrm>
            <a:off x="515957" y="1311372"/>
            <a:ext cx="11160085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Education is widely recognized as a key modifiable social determinant of health, influencing behaviors, access to information, and economic participation. [5]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Education indicators were examined as predictors of health quality outcomes, to quantify the strength and direction of this relationship across countries and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educational attainment has been consistently linked to lower mortality risk, healthier behaviors, and greater utilization of preventive healthcare services across countries. [1]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tend to isolate single education indicators, which may underestimate the complexity of how educational systems shape population health. [4]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Examining this relationship at a global scale provides policymakers with evidence to address educational and health disparities. [2]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DD3A1-D2FA-456D-E400-E3E7DE10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65DB-31CE-5CFF-3EE4-52C0388B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EBB208-E838-3187-1B76-D2EEB7C0B9DC}"/>
              </a:ext>
            </a:extLst>
          </p:cNvPr>
          <p:cNvSpPr txBox="1"/>
          <p:nvPr/>
        </p:nvSpPr>
        <p:spPr>
          <a:xfrm>
            <a:off x="614027" y="545254"/>
            <a:ext cx="109967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Is there an association between education and population health quality?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2CB2F-E05D-F134-1AC9-EC6BF9C090FD}"/>
              </a:ext>
            </a:extLst>
          </p:cNvPr>
          <p:cNvSpPr txBox="1"/>
          <p:nvPr/>
        </p:nvSpPr>
        <p:spPr>
          <a:xfrm>
            <a:off x="614027" y="2541934"/>
            <a:ext cx="11187228" cy="33085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/>
                <a:ea typeface="+mn-lt"/>
                <a:cs typeface="Times New Roman"/>
              </a:rPr>
              <a:t>Education is regarded as a social determinant of health, though its relationship with health outcomes across development contexts remains underexplored. [6]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We propose to research the relationship between various education indicators (x – independent variables) and health quality outcomes (y – dependent variables).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Examining five complementary education indicators simultaneously offers a more complete picture of how educational systems shape population health. [4]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/>
                <a:ea typeface="+mn-lt"/>
                <a:cs typeface="Times New Roman"/>
              </a:rPr>
              <a:t>This cross-country study aims to equip policymakers with evidence to design education-driven interventions targeting outcomes such as immunization, hypertension, and preventable mortality. [3]</a:t>
            </a:r>
            <a:endParaRPr lang="en-US" sz="19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EC34C-0C94-4389-9053-51A305C8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1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A9AC-E6D9-1F48-4770-36639CAA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Hypotheses &amp; Overall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243EA-D436-77EE-A607-7A46B3B0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160"/>
            <a:ext cx="10527323" cy="20418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Hypotheses: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Higher educational attainment is associated with lower mortality across countries.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Education levels shape reproductive and child health outcomes.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Education reduces disease burden.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Education is associated with higher health expenditure and lifestyle-related health risks.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Education access is associated with stronger public health infrastructure and outcomes.</a:t>
            </a:r>
            <a:endParaRPr lang="en-US"/>
          </a:p>
          <a:p>
            <a:pPr marL="457200" indent="-457200">
              <a:buAutoNum type="arabicPeriod"/>
            </a:pPr>
            <a:endParaRPr lang="en-US" sz="2000">
              <a:latin typeface="Times New Roman"/>
              <a:ea typeface="Cambria Math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/>
              <a:ea typeface="Cambria Math"/>
              <a:cs typeface="Times New Roman"/>
            </a:endParaRPr>
          </a:p>
          <a:p>
            <a:pPr marL="457200" indent="-457200">
              <a:buAutoNum type="arabicPeriod"/>
            </a:pPr>
            <a:endParaRPr lang="en-US" sz="2000">
              <a:latin typeface="Times New Roman"/>
              <a:ea typeface="Cambria Math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1912B-E31D-2153-163C-B0CF2195F6E4}"/>
              </a:ext>
            </a:extLst>
          </p:cNvPr>
          <p:cNvSpPr txBox="1"/>
          <p:nvPr/>
        </p:nvSpPr>
        <p:spPr>
          <a:xfrm>
            <a:off x="835594" y="3886850"/>
            <a:ext cx="10187353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Rationale: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These five hypotheses pair each education variable with health quality metrics across distinct categories (i.e., mortality, reproduction, disease, expenditure, and infrastructure).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Each hypothesis allows for the isolation of different potential mechanisms through which education may relate to health.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Simple to examine where associations are strongest and where controls like GDP per capita or region play a role</a:t>
            </a:r>
            <a:br>
              <a:rPr lang="en-US" sz="2000" dirty="0">
                <a:latin typeface="Times New Roman"/>
                <a:cs typeface="Times New Roman"/>
              </a:rPr>
            </a:b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9E9F7-2FA3-00D9-6D45-BDCCD270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0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03FC-CAE7-8DF8-715D-9C936161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35" y="-1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C37C6D-7B00-29AB-E4D3-C5A5724DF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924645"/>
              </p:ext>
            </p:extLst>
          </p:nvPr>
        </p:nvGraphicFramePr>
        <p:xfrm>
          <a:off x="836040" y="1165589"/>
          <a:ext cx="10900144" cy="5439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6">
                  <a:extLst>
                    <a:ext uri="{9D8B030D-6E8A-4147-A177-3AD203B41FA5}">
                      <a16:colId xmlns:a16="http://schemas.microsoft.com/office/drawing/2014/main" val="3742995422"/>
                    </a:ext>
                  </a:extLst>
                </a:gridCol>
                <a:gridCol w="2095990">
                  <a:extLst>
                    <a:ext uri="{9D8B030D-6E8A-4147-A177-3AD203B41FA5}">
                      <a16:colId xmlns:a16="http://schemas.microsoft.com/office/drawing/2014/main" val="2239246100"/>
                    </a:ext>
                  </a:extLst>
                </a:gridCol>
                <a:gridCol w="905879">
                  <a:extLst>
                    <a:ext uri="{9D8B030D-6E8A-4147-A177-3AD203B41FA5}">
                      <a16:colId xmlns:a16="http://schemas.microsoft.com/office/drawing/2014/main" val="48197125"/>
                    </a:ext>
                  </a:extLst>
                </a:gridCol>
                <a:gridCol w="1090643">
                  <a:extLst>
                    <a:ext uri="{9D8B030D-6E8A-4147-A177-3AD203B41FA5}">
                      <a16:colId xmlns:a16="http://schemas.microsoft.com/office/drawing/2014/main" val="3157561751"/>
                    </a:ext>
                  </a:extLst>
                </a:gridCol>
                <a:gridCol w="1220703">
                  <a:extLst>
                    <a:ext uri="{9D8B030D-6E8A-4147-A177-3AD203B41FA5}">
                      <a16:colId xmlns:a16="http://schemas.microsoft.com/office/drawing/2014/main" val="3315470183"/>
                    </a:ext>
                  </a:extLst>
                </a:gridCol>
                <a:gridCol w="1435333">
                  <a:extLst>
                    <a:ext uri="{9D8B030D-6E8A-4147-A177-3AD203B41FA5}">
                      <a16:colId xmlns:a16="http://schemas.microsoft.com/office/drawing/2014/main" val="3379096620"/>
                    </a:ext>
                  </a:extLst>
                </a:gridCol>
              </a:tblGrid>
              <a:tr h="331969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(Y/N)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78087"/>
                  </a:ext>
                </a:extLst>
              </a:tr>
              <a:tr h="361172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 name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‘Austria’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12190972"/>
                  </a:ext>
                </a:extLst>
              </a:tr>
              <a:tr h="311240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Calendar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‘2015’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6050867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 Bank region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‘South Asia’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166683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Population, 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‘41,730,660’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47499323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to electricity (% of population)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population with access to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‘69.1’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9424196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 per capita, PPP (constant 2021 international $)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 converted to international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‘28,334.90’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36275118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attainment, at least Bachelor’s or equivalent, population 25+, total (%) (cumulative)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population having completed at least Bachelor’s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‘16.15’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89693996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Compulsory education, duration (years)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 children legally required to attend 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‘9’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7347228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 of youth not in education, employment or training, total (% of youth population) (modeled ILO estimate)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youth not in education, employment, or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‘10.76’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5362009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School life expectancy, tertiary, both sexes (years)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number of years of tertiary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‘1.43’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07747546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Enrolment in tertiary education, all </a:t>
                      </a:r>
                      <a:r>
                        <a:rPr lang="en-US" sz="1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programmes</a:t>
                      </a: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both sexes (number)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students enrolled in tertiary education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‘1,600,676’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9277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3F6CE-B21D-C5B3-E39A-319CCF75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15BB-4820-6B52-0CCF-1B191AEB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156A-8750-74F2-CA7B-31CAB7A5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Independent Variables – Rationale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F5071-6519-1432-CA84-1C45DE273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301"/>
            <a:ext cx="10243657" cy="3939540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Bachelor's attainment, compulsory education duration, and tertiary enrolment capture the depth of a country's educational investment.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Tertiary school life expectancy and youth NEET share offer complementary views of educational engagement versus disengagement.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GDP per capita and access to electricity serve as controls for economic capacity and infrastructure, helping isolate the education-health relationship.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Region and population account for geographic and demographic variation across countries.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4754E-7D50-220F-D61B-B4704146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0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70A8-F38D-7378-6EF8-B38F4701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27C5-F6EB-4095-FFB5-D80444E4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3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Dependent Variables &amp; Rationale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DC9208-9C21-0602-019F-FD411D828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916444"/>
              </p:ext>
            </p:extLst>
          </p:nvPr>
        </p:nvGraphicFramePr>
        <p:xfrm>
          <a:off x="838200" y="1174610"/>
          <a:ext cx="10713440" cy="3437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1481">
                  <a:extLst>
                    <a:ext uri="{9D8B030D-6E8A-4147-A177-3AD203B41FA5}">
                      <a16:colId xmlns:a16="http://schemas.microsoft.com/office/drawing/2014/main" val="3742995422"/>
                    </a:ext>
                  </a:extLst>
                </a:gridCol>
                <a:gridCol w="2726748">
                  <a:extLst>
                    <a:ext uri="{9D8B030D-6E8A-4147-A177-3AD203B41FA5}">
                      <a16:colId xmlns:a16="http://schemas.microsoft.com/office/drawing/2014/main" val="1836087316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48197125"/>
                    </a:ext>
                  </a:extLst>
                </a:gridCol>
                <a:gridCol w="1047895">
                  <a:extLst>
                    <a:ext uri="{9D8B030D-6E8A-4147-A177-3AD203B41FA5}">
                      <a16:colId xmlns:a16="http://schemas.microsoft.com/office/drawing/2014/main" val="3157561751"/>
                    </a:ext>
                  </a:extLst>
                </a:gridCol>
                <a:gridCol w="1160636">
                  <a:extLst>
                    <a:ext uri="{9D8B030D-6E8A-4147-A177-3AD203B41FA5}">
                      <a16:colId xmlns:a16="http://schemas.microsoft.com/office/drawing/2014/main" val="3315470183"/>
                    </a:ext>
                  </a:extLst>
                </a:gridCol>
              </a:tblGrid>
              <a:tr h="331969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78087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Death rate, crude (per 1,000 people)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deaths during year per 1,000 population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‘9.2’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2190972"/>
                  </a:ext>
                </a:extLst>
              </a:tr>
              <a:tr h="311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Fertility rate, total (births per woman)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number of children woman bears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‘1.75’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50867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Immunization DPT (% of children ages 12-23 months)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children who received three doses of DPT vaccine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‘98’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499323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Incidence of tuberculosis (per 100,000 people)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new or relapse TB cases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‘16’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6275118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health expenditure per capita, PPP (current international $)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expenditure per capita in international dollars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‘184.23’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9693996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Prevalence of overweight (% of adults)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adults with BMI &gt; 25kg/m</a:t>
                      </a:r>
                      <a:r>
                        <a:rPr lang="en-US" sz="1300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‘60.93’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839040"/>
                  </a:ext>
                </a:extLst>
              </a:tr>
              <a:tr h="33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Prevalence of hypertension (% of adults ages 30-79)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adults with hypertension or on treatment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‘36.5’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44911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166A42-A7E1-D4E3-808C-5C9B5A4F8713}"/>
              </a:ext>
            </a:extLst>
          </p:cNvPr>
          <p:cNvSpPr txBox="1"/>
          <p:nvPr/>
        </p:nvSpPr>
        <p:spPr>
          <a:xfrm>
            <a:off x="838200" y="4593777"/>
            <a:ext cx="10510716" cy="2127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latin typeface="Times New Roman"/>
                <a:cs typeface="Times New Roman"/>
              </a:rPr>
              <a:t>Rationale:</a:t>
            </a:r>
            <a:endParaRPr lang="en-US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Variables span mortality, illness, disease prevention, and healthcare per capita spend for a well-rounded view of health quality.</a:t>
            </a:r>
            <a:endParaRPr lang="en-US">
              <a:latin typeface="Aptos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Includes both infant/child-related and adult measures, capturing health outcomes across the full lifespan.</a:t>
            </a:r>
            <a:endParaRPr lang="en-US">
              <a:latin typeface="Aptos" panose="02110004020202020204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Immunization and health expenditure reflect preventive care and systemic participation, not just outcomes.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5E522-0816-745A-6F24-9BDA7DEC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5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E20A-57FD-71CD-0562-41634A17E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6323-A00A-CF86-46B3-18E28E97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75EE86-83D8-309D-6887-52CDE8560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13365"/>
            <a:ext cx="11034763" cy="72507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>
                <a:latin typeface="Times New Roman"/>
                <a:ea typeface="Cambria Math"/>
                <a:cs typeface="Times New Roman"/>
              </a:rPr>
              <a:t>Data Volume = 453 rows (excl. column headings)  × 8 years × 16 indicators  = </a:t>
            </a:r>
            <a:r>
              <a:rPr lang="en-US" sz="2000" b="1">
                <a:latin typeface="Times New Roman"/>
                <a:ea typeface="Cambria Math"/>
                <a:cs typeface="Times New Roman"/>
              </a:rPr>
              <a:t>57,984 = Data Volume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5D84B-ED25-62C6-16BC-8AEA23D8FBD0}"/>
              </a:ext>
            </a:extLst>
          </p:cNvPr>
          <p:cNvSpPr txBox="1"/>
          <p:nvPr/>
        </p:nvSpPr>
        <p:spPr>
          <a:xfrm>
            <a:off x="838196" y="2211860"/>
            <a:ext cx="738216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Mix of text (e.g., Country name &amp; Region), integer (e.g., Population), and numeric (e.g., Death rate) variables on nominal, ratio, and interval (e.g., Year) scales depending on the variable/indicator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Cambria Math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8 years, 2012-2019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mbria Math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11 independent variables (comprised Country, Year, 4 controls, and education-related variables)</a:t>
            </a:r>
            <a:r>
              <a:rPr lang="en-US" dirty="0"/>
              <a:t>, </a:t>
            </a:r>
            <a:r>
              <a:rPr lang="en-US" dirty="0">
                <a:latin typeface="Times New Roman"/>
                <a:ea typeface="Cambria Math"/>
                <a:cs typeface="Times New Roman"/>
              </a:rPr>
              <a:t>7 health-related 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mbria Math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Data obtained from: </a:t>
            </a:r>
            <a:r>
              <a:rPr lang="en-US" dirty="0">
                <a:latin typeface="Times New Roman"/>
                <a:ea typeface="Cambria Math"/>
                <a:cs typeface="Times New Roman"/>
                <a:hlinkClick r:id="rId2"/>
              </a:rPr>
              <a:t>https://databank.worldbank.org/</a:t>
            </a:r>
            <a:r>
              <a:rPr lang="en-US" dirty="0">
                <a:latin typeface="Times New Roman"/>
                <a:ea typeface="Cambria Math"/>
                <a:cs typeface="Times New Roman"/>
              </a:rPr>
              <a:t> (World Development &amp; Education Indicators)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Cambria Math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112 unique countries represented, with nearly half of all observations coming from Europe &amp; Central Asia (49.9%)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Cambria Math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Cambria Math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Cambria Math"/>
                <a:cs typeface="Times New Roman"/>
              </a:rPr>
              <a:t> 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endParaRPr lang="en-US" dirty="0">
              <a:latin typeface="Cambria Math"/>
              <a:ea typeface="Cambria Math"/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862CE4-EEB8-3AAE-E5F9-4F2A25384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01845"/>
              </p:ext>
            </p:extLst>
          </p:nvPr>
        </p:nvGraphicFramePr>
        <p:xfrm>
          <a:off x="8451272" y="2415582"/>
          <a:ext cx="2993405" cy="360475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72400">
                  <a:extLst>
                    <a:ext uri="{9D8B030D-6E8A-4147-A177-3AD203B41FA5}">
                      <a16:colId xmlns:a16="http://schemas.microsoft.com/office/drawing/2014/main" val="2087389291"/>
                    </a:ext>
                  </a:extLst>
                </a:gridCol>
                <a:gridCol w="1121005">
                  <a:extLst>
                    <a:ext uri="{9D8B030D-6E8A-4147-A177-3AD203B41FA5}">
                      <a16:colId xmlns:a16="http://schemas.microsoft.com/office/drawing/2014/main" val="1279226171"/>
                    </a:ext>
                  </a:extLst>
                </a:gridCol>
              </a:tblGrid>
              <a:tr h="37408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rows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547321"/>
                  </a:ext>
                </a:extLst>
              </a:tr>
              <a:tr h="322693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 &amp; Central Asia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49.9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08328"/>
                  </a:ext>
                </a:extLst>
              </a:tr>
              <a:tr h="322241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Sub-Saharan Africa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678243"/>
                  </a:ext>
                </a:extLst>
              </a:tr>
              <a:tr h="385691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 East, North Africa, Afghanistan &amp; Pakistan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36217"/>
                  </a:ext>
                </a:extLst>
              </a:tr>
              <a:tr h="336645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Latin America &amp; Caribbean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373804"/>
                  </a:ext>
                </a:extLst>
              </a:tr>
              <a:tr h="349861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East Asia &amp; Pacific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387052"/>
                  </a:ext>
                </a:extLst>
              </a:tr>
              <a:tr h="339952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Asia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320333"/>
                  </a:ext>
                </a:extLst>
              </a:tr>
              <a:tr h="380244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America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725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0DCDF-5FD2-A9CB-70F7-D0B903E6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9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C571-88E9-8DB2-ACFC-FF755D34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Platforms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5668-48B5-1E07-79D6-16C5C790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Bank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query education and health indicators across countries and years and export the raw data to CSV.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pandas was used to clean the data, remove null values, drop sparse columns, and min-max normalize numeric values for comparability.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was used for a visual analytics approach, examining the education-health relationship through scatter plots, bar charts, distribution plots, etc.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such as GDP per capita bands were applied in Tableau to explore how education-health patterns vary across economic and/or other strata.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statistical and machine learning packages were used to develop predictive models that further examine key education-health relationships.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D41CF-A209-C749-3FE0-F4BF7E72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3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7722-C2B0-04E2-F5E4-F89E7B7C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8C59-3FEF-43A5-FA82-6877C328E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92" y="595313"/>
            <a:ext cx="10496107" cy="50674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Key Results</a:t>
            </a:r>
            <a:endParaRPr lang="en-US" sz="4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945E-11F1-6188-E946-9716F5C9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1C742-B1A2-1356-6966-8BF764E1BFF5}"/>
              </a:ext>
            </a:extLst>
          </p:cNvPr>
          <p:cNvSpPr txBox="1"/>
          <p:nvPr/>
        </p:nvSpPr>
        <p:spPr>
          <a:xfrm>
            <a:off x="416711" y="1375972"/>
            <a:ext cx="1135857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Bachelor's attainment and youth NEET rates showed no consistent association with crude death rates, with mortality trends possibly driven by demographic aging and factors beyond educational engagement alone.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negative association was observed between Bachelor's attainment and fertility rate in low GDP countries (r = -0.52), flattening significantly at mid and high-income levels.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youth NEET rates were consistently linked to greater tuberculosis incidence across all regions, while higher tertiary school life expectancy was associated with lower TB incidence (r = -0.42), particularly in countries with greater electricity access.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expenditure per capita was strongly associated with Bachelor's attainment (r = 0.66), while overweight prevalence rose with longer compulsory education duration across all GDP bands.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DPT immunization coverage increased consistently with tertiary school life expectancy, with high band countries achieving near-universal coverage (0.97) compared to low band countries (0.80).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3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C571-88E9-8DB2-ACFC-FF755D34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5668-48B5-1E07-79D6-16C5C790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covers 112 countries across 7 World Bank regions from 2012–2019 and is not exhaustive of all nations.</a:t>
            </a:r>
          </a:p>
          <a:p>
            <a:pPr marL="285750" indent="-28575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Europe &amp; Central Asia account for nearly half of all observations (49.9%), which may limit generalizability to underrepresented regions.</a:t>
            </a:r>
          </a:p>
          <a:p>
            <a:pPr marL="285750" indent="-285750">
              <a:lnSpc>
                <a:spcPct val="120000"/>
              </a:lnSpc>
              <a:spcAft>
                <a:spcPts val="800"/>
              </a:spcAft>
            </a:pPr>
            <a:r>
              <a:rPr lang="en-US" sz="2000" dirty="0">
                <a:latin typeface="Times New Roman"/>
                <a:cs typeface="Times New Roman"/>
              </a:rPr>
              <a:t>The 2012–2019 timeframe excludes most COVID-19 era disruptions that may have altered trends in education and health outcomes.</a:t>
            </a:r>
          </a:p>
          <a:p>
            <a:pPr marL="285750" indent="-28575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explores associations between education and health variables and does not make causal claims about any observed relationship.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is primarily visual (e.g., scatterplots, trend lines); statistical testing is limited to specific contexts such as trend line significance and regression coefficient modeling.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B161-C2D8-13E5-D25D-02D0B23F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0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24FB-3E07-5447-7E7A-57B04792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CADF-407B-7AD4-21D2-AF7043C2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95" y="341940"/>
            <a:ext cx="10496107" cy="506745"/>
          </a:xfrm>
        </p:spPr>
        <p:txBody>
          <a:bodyPr>
            <a:no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Conclusions &amp; Future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78C8C-0E56-2049-11CF-37EC9B4A4E23}"/>
              </a:ext>
            </a:extLst>
          </p:cNvPr>
          <p:cNvSpPr txBox="1"/>
          <p:nvPr/>
        </p:nvSpPr>
        <p:spPr>
          <a:xfrm>
            <a:off x="568595" y="1264184"/>
            <a:ext cx="1105481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educational attainment showed no clear reduction in crude death rates possibly due to demographic aging and sample bias and was linked to increased lifestyle-related risks such as obesity and higher healthcare spending.</a:t>
            </a:r>
          </a:p>
          <a:p>
            <a:pPr marL="342900" indent="-342900">
              <a:buFont typeface="Arial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Higher educational attainment is strongly associated with lower fertility and improved child health outcomes, with the greatest impact seen in lower income countries. </a:t>
            </a:r>
          </a:p>
          <a:p>
            <a:pPr marL="342900" indent="-342900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education was consistently linked to lower tuberculosis incidence, higher immunization coverage, and greater healthcare investment, with higher youth NEET rates compounding disease risk across all regions.</a:t>
            </a:r>
          </a:p>
          <a:p>
            <a:pPr marL="342900" indent="-342900">
              <a:buFont typeface="Arial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Future research should prioritize proving causality rather than association, applying advanced statistical modeling to further examine how education shapes health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Future research should expand the list of indicators to include variables unavailable due to data limitations, such as literacy rates, pupil-teacher ratios, and maternal education levels, while broadening country coverage to include nations such as Brazil and Japan.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Incorporating data after 2019 would allow future research to examine whether the 2020 pandemic altered the associations between education and health found in this study.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AC922-157F-DE82-1FAF-3D68E3F2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73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FE21-CB34-E7F8-8C3D-41AAFE58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1EEC-3DD6-0CAC-9BB1-1C434163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67" y="595313"/>
            <a:ext cx="10496107" cy="602437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Policy Implications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3221E-1D12-E83C-2C02-D1A00E5705C2}"/>
              </a:ext>
            </a:extLst>
          </p:cNvPr>
          <p:cNvSpPr txBox="1"/>
          <p:nvPr/>
        </p:nvSpPr>
        <p:spPr>
          <a:xfrm>
            <a:off x="569567" y="1699063"/>
            <a:ext cx="11052866" cy="3893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should not rely on educational attainment alone to reduce mortality or prevent disease.</a:t>
            </a:r>
          </a:p>
          <a:p>
            <a:pPr marL="342900" indent="-342900">
              <a:buFont typeface="Arial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 in low-income countries should prioritize expanding higher education access, as it showed the strongest associations with lower fertility rates and improved child immunization coverage. </a:t>
            </a:r>
          </a:p>
          <a:p>
            <a:pPr marL="342900" indent="-342900">
              <a:buFont typeface="Arial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youth NEET rates should be treated as a public health priority, as it was the only education indicator consistently linked to lower death rates and TB incidence across all income levels and regions.</a:t>
            </a:r>
          </a:p>
          <a:p>
            <a:pPr marL="342900" indent="-342900">
              <a:buFont typeface="Arial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Education-driven interventions should be paired with dedicated chronic disease programs, as education reduced infectious disease burden (TB) but showed no protective effect against hypertension and obesity.</a:t>
            </a:r>
          </a:p>
          <a:p>
            <a:pPr marL="342900" indent="-342900">
              <a:buFont typeface="Arial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expenditure is primarily income-driven, but expanding tertiary education access remains a meaningful long-term strategy for strengthening public health infrastructure and immunization consistency.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D9201-8119-F925-73B6-878F357F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9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281A-4B79-92FB-CC0B-35A99E92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D1925-E070-5F9E-957A-B5FD385B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608594"/>
            <a:ext cx="10496107" cy="602437"/>
          </a:xfrm>
        </p:spPr>
        <p:txBody>
          <a:bodyPr>
            <a:no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43CC8-B3AF-3033-E2C9-6B3B32A03C05}"/>
              </a:ext>
            </a:extLst>
          </p:cNvPr>
          <p:cNvSpPr txBox="1"/>
          <p:nvPr/>
        </p:nvSpPr>
        <p:spPr>
          <a:xfrm>
            <a:off x="716280" y="1826751"/>
            <a:ext cx="1112519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latin typeface="Times New Roman"/>
                <a:ea typeface="+mn-lt"/>
                <a:cs typeface="Times New Roman"/>
              </a:rPr>
              <a:t>Butler, D. M., &amp; Lleras-Muney, A. (2006). Education and health: Evaluating theories and evidence (NBER Working Paper No. 12352). National Bureau of Economic Research. </a:t>
            </a:r>
            <a:r>
              <a:rPr lang="en-US">
                <a:latin typeface="Times New Roman"/>
                <a:ea typeface="+mn-lt"/>
                <a:cs typeface="Times New Roman"/>
                <a:hlinkClick r:id="rId2"/>
              </a:rPr>
              <a:t>https://www.nber.org/papers/w12352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err="1">
                <a:latin typeface="Times New Roman"/>
                <a:ea typeface="+mn-lt"/>
                <a:cs typeface="Times New Roman"/>
              </a:rPr>
              <a:t>Crand</a:t>
            </a:r>
            <a:r>
              <a:rPr lang="en-US">
                <a:latin typeface="Times New Roman"/>
                <a:ea typeface="+mn-lt"/>
                <a:cs typeface="Times New Roman"/>
              </a:rPr>
              <a:t>, J. E., &amp; Davis, D. (2011). The impact of college education on fertility: Evidence for heterogeneous effects. </a:t>
            </a:r>
            <a:r>
              <a:rPr lang="en-US" i="1">
                <a:latin typeface="Times New Roman"/>
                <a:ea typeface="+mn-lt"/>
                <a:cs typeface="Times New Roman"/>
              </a:rPr>
              <a:t>Demography, 48</a:t>
            </a:r>
            <a:r>
              <a:rPr lang="en-US">
                <a:latin typeface="Times New Roman"/>
                <a:ea typeface="+mn-lt"/>
                <a:cs typeface="Times New Roman"/>
              </a:rPr>
              <a:t>(3), 863-887. </a:t>
            </a:r>
            <a:r>
              <a:rPr lang="en-US">
                <a:latin typeface="Times New Roman"/>
                <a:ea typeface="+mn-lt"/>
                <a:cs typeface="Times New Roman"/>
                <a:hlinkClick r:id="rId3"/>
              </a:rPr>
              <a:t>https://doi.org/10.1007/s13524-011-0034-3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>
                <a:latin typeface="Times New Roman"/>
                <a:ea typeface="+mn-lt"/>
                <a:cs typeface="Times New Roman"/>
              </a:rPr>
              <a:t>GBD 2021 Tuberculosis Collaborators. (2024). Global, regional, and national burden of tuberculosis, 1990–2021. </a:t>
            </a:r>
            <a:r>
              <a:rPr lang="en-US" i="1">
                <a:latin typeface="Times New Roman"/>
                <a:ea typeface="+mn-lt"/>
                <a:cs typeface="Times New Roman"/>
              </a:rPr>
              <a:t>BMC Public Health, 24</a:t>
            </a:r>
            <a:r>
              <a:rPr lang="en-US">
                <a:latin typeface="Times New Roman"/>
                <a:ea typeface="+mn-lt"/>
                <a:cs typeface="Times New Roman"/>
              </a:rPr>
              <a:t>, 2909. </a:t>
            </a:r>
            <a:r>
              <a:rPr lang="en-US">
                <a:latin typeface="Times New Roman"/>
                <a:ea typeface="+mn-lt"/>
                <a:cs typeface="Times New Roman"/>
                <a:hlinkClick r:id="rId4"/>
              </a:rPr>
              <a:t>https://doi.org/10.1186/s12889-024-20664-w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>
                <a:latin typeface="Times New Roman"/>
                <a:ea typeface="+mn-lt"/>
                <a:cs typeface="Times New Roman"/>
              </a:rPr>
              <a:t>Kung, C. S. J., et al. (2019). Examining social determinants of health: The role of education, household arrangements and country groups by gender. </a:t>
            </a:r>
            <a:r>
              <a:rPr lang="en-US" i="1">
                <a:latin typeface="Times New Roman"/>
                <a:ea typeface="+mn-lt"/>
                <a:cs typeface="Times New Roman"/>
              </a:rPr>
              <a:t>BMC Public Health, 19</a:t>
            </a:r>
            <a:r>
              <a:rPr lang="en-US">
                <a:latin typeface="Times New Roman"/>
                <a:ea typeface="+mn-lt"/>
                <a:cs typeface="Times New Roman"/>
              </a:rPr>
              <a:t>, 699. </a:t>
            </a:r>
            <a:r>
              <a:rPr lang="en-US">
                <a:latin typeface="Times New Roman"/>
                <a:ea typeface="+mn-lt"/>
                <a:cs typeface="Times New Roman"/>
                <a:hlinkClick r:id="rId5"/>
              </a:rPr>
              <a:t>https://doi.org/10.1186/s12889-019-7054-0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>
                <a:latin typeface="Times New Roman"/>
                <a:ea typeface="+mn-lt"/>
                <a:cs typeface="Times New Roman"/>
              </a:rPr>
              <a:t>The Lancet Public Health. (2020). Education: A neglected social determinant of health. </a:t>
            </a:r>
            <a:r>
              <a:rPr lang="en-US" i="1">
                <a:latin typeface="Times New Roman"/>
                <a:ea typeface="+mn-lt"/>
                <a:cs typeface="Times New Roman"/>
              </a:rPr>
              <a:t>The Lancet Public Health, 5</a:t>
            </a:r>
            <a:r>
              <a:rPr lang="en-US">
                <a:latin typeface="Times New Roman"/>
                <a:ea typeface="+mn-lt"/>
                <a:cs typeface="Times New Roman"/>
              </a:rPr>
              <a:t>(7), e361. </a:t>
            </a:r>
            <a:r>
              <a:rPr lang="en-US">
                <a:latin typeface="Times New Roman"/>
                <a:ea typeface="+mn-lt"/>
                <a:cs typeface="Times New Roman"/>
                <a:hlinkClick r:id="rId6"/>
              </a:rPr>
              <a:t>https://doi.org/10.1016/S2468-2667(20)30144-4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>
                <a:latin typeface="Times New Roman"/>
                <a:ea typeface="+mn-lt"/>
                <a:cs typeface="Times New Roman"/>
              </a:rPr>
              <a:t>Raghupathi, V., &amp; Raghupathi, W. (2020). The influence of education on health: An empirical assessment of OECD countries for the period 1995–2015. </a:t>
            </a:r>
            <a:r>
              <a:rPr lang="en-US" i="1">
                <a:latin typeface="Times New Roman"/>
                <a:ea typeface="+mn-lt"/>
                <a:cs typeface="Times New Roman"/>
              </a:rPr>
              <a:t>Archives of Public Health, 78</a:t>
            </a:r>
            <a:r>
              <a:rPr lang="en-US">
                <a:latin typeface="Times New Roman"/>
                <a:ea typeface="+mn-lt"/>
                <a:cs typeface="Times New Roman"/>
              </a:rPr>
              <a:t>, 14. </a:t>
            </a:r>
            <a:r>
              <a:rPr lang="en-US">
                <a:latin typeface="Times New Roman"/>
                <a:ea typeface="+mn-lt"/>
                <a:cs typeface="Times New Roman"/>
                <a:hlinkClick r:id="rId7"/>
              </a:rPr>
              <a:t>https://doi.org/10.1186/s13690-020-00402-5</a:t>
            </a:r>
            <a:endParaRPr lang="en-US">
              <a:latin typeface="Times New Roman"/>
              <a:cs typeface="Times New Roman"/>
            </a:endParaRPr>
          </a:p>
          <a:p>
            <a:pPr algn="l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D4A9E-763E-A448-BBD4-0EE120DB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26C7F-E5A6-0D4B-8C8F-80552A591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E7072E-62A5-4048-B78C-5B268B776F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195118-8dd4-4312-bca5-a313610cd6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2279</Words>
  <Application>Microsoft Office PowerPoint</Application>
  <PresentationFormat>Widescreen</PresentationFormat>
  <Paragraphs>273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Courier New</vt:lpstr>
      <vt:lpstr>Times New Roman</vt:lpstr>
      <vt:lpstr>Office Theme</vt:lpstr>
      <vt:lpstr>Exploring the Association Between Education And Health Quality: A Country Level Study</vt:lpstr>
      <vt:lpstr>PowerPoint Presentation</vt:lpstr>
      <vt:lpstr>PowerPoint Presentation</vt:lpstr>
      <vt:lpstr>PowerPoint Presentation</vt:lpstr>
      <vt:lpstr>Hypotheses &amp; Overall Rationale</vt:lpstr>
      <vt:lpstr>Independent Variables</vt:lpstr>
      <vt:lpstr>Independent Variables – Rationale </vt:lpstr>
      <vt:lpstr>Dependent Variables &amp; Rationale</vt:lpstr>
      <vt:lpstr>Data Description</vt:lpstr>
      <vt:lpstr>Platforms &amp; Tools</vt:lpstr>
      <vt:lpstr>Key Results</vt:lpstr>
      <vt:lpstr>Scope &amp; Limitations</vt:lpstr>
      <vt:lpstr>Conclusions &amp; Future Research</vt:lpstr>
      <vt:lpstr>Policy Implications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Williner, Sofia</dc:creator>
  <cp:lastModifiedBy>Jon Parks</cp:lastModifiedBy>
  <cp:revision>2</cp:revision>
  <dcterms:created xsi:type="dcterms:W3CDTF">2026-04-09T17:18:35Z</dcterms:created>
  <dcterms:modified xsi:type="dcterms:W3CDTF">2026-05-05T00:15:04Z</dcterms:modified>
</cp:coreProperties>
</file>